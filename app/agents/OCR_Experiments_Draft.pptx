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OCR Experiments Summary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Experiment 1: Cube Faces OCR</a:t>
            </a:r>
          </a:p>
        </p:txBody>
      </p:sp>
      <p:sp>
        <p:nvSpPr>
          <p:cNvPr id="9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Task: Identify vertical digits on two cube faces.</a:t>
            </a:r>
          </a:p>
          <a:p>
            <a:pPr/>
            <a:r>
              <a:t>Model: ChatGPT 4.0</a:t>
            </a:r>
          </a:p>
          <a:p>
            <a:pPr/>
            <a:r>
              <a:t>Accuracy: 17% (either side)</a:t>
            </a:r>
          </a:p>
          <a:p>
            <a:pPr/>
            <a:r>
              <a:t>Observation: Model struggles with 3D spatial structure.</a:t>
            </a:r>
          </a:p>
        </p:txBody>
      </p:sp>
      <p:pic>
        <p:nvPicPr>
          <p:cNvPr id="98" name="cube_000.png" descr="cube_00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6522" y="4528919"/>
            <a:ext cx="2151282" cy="215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cube_002.png" descr="cube_00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55220" y="4468748"/>
            <a:ext cx="2271624" cy="22716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cube_005.png" descr="cube_005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40994" y="4528919"/>
            <a:ext cx="2151281" cy="21512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Experiment 2: Elliptical Orbit OCR</a:t>
            </a:r>
          </a:p>
        </p:txBody>
      </p:sp>
      <p:sp>
        <p:nvSpPr>
          <p:cNvPr id="10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Task: Read digits placed along elliptical orbits.</a:t>
            </a:r>
          </a:p>
          <a:p>
            <a:pPr/>
            <a:r>
              <a:t>Model: ChatGPT 4.0</a:t>
            </a:r>
          </a:p>
          <a:p>
            <a:pPr/>
            <a:r>
              <a:t>Accuracy: 1%</a:t>
            </a:r>
          </a:p>
          <a:p>
            <a:pPr/>
            <a:r>
              <a:t>Observation: Model unable to deduce orbit-based sequencing.</a:t>
            </a:r>
          </a:p>
        </p:txBody>
      </p:sp>
      <p:pic>
        <p:nvPicPr>
          <p:cNvPr id="104" name="red3d_087.png" descr="red3d_08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1725" y="4470339"/>
            <a:ext cx="2287462" cy="22874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red3d_079.png" descr="red3d_079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37040" y="4470339"/>
            <a:ext cx="2287462" cy="22874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red3d_049.png" descr="red3d_049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066013" y="4470339"/>
            <a:ext cx="2287462" cy="22874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Experiment 3: Scene Text OCR</a:t>
            </a:r>
          </a:p>
        </p:txBody>
      </p:sp>
      <p:sp>
        <p:nvSpPr>
          <p:cNvPr id="109" name="Content Placeholder 2"/>
          <p:cNvSpPr txBox="1"/>
          <p:nvPr>
            <p:ph type="body" idx="1"/>
          </p:nvPr>
        </p:nvSpPr>
        <p:spPr>
          <a:xfrm>
            <a:off x="457200" y="1166018"/>
            <a:ext cx="8229600" cy="4525964"/>
          </a:xfrm>
          <a:prstGeom prst="rect">
            <a:avLst/>
          </a:prstGeom>
        </p:spPr>
        <p:txBody>
          <a:bodyPr/>
          <a:lstStyle/>
          <a:p>
            <a:pPr/>
            <a:r>
              <a:t>Task: Read natural text exactly as shown.</a:t>
            </a:r>
          </a:p>
          <a:p>
            <a:pPr/>
            <a:r>
              <a:t>Model : chatGPT-4.0 </a:t>
            </a:r>
          </a:p>
          <a:p>
            <a:pPr/>
            <a:r>
              <a:t>Accuracy - 74% ( more than 90% if we exclude case error)</a:t>
            </a:r>
          </a:p>
          <a:p>
            <a:pPr/>
            <a:r>
              <a:t>Observation: Performs well on standard text.</a:t>
            </a:r>
          </a:p>
          <a:p>
            <a:pPr/>
            <a:r>
              <a:t>Errors mostly small (case or 1–2 letters).</a:t>
            </a:r>
          </a:p>
        </p:txBody>
      </p:sp>
      <p:pic>
        <p:nvPicPr>
          <p:cNvPr id="110" name="209.jpg" descr="209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4389" y="4815909"/>
            <a:ext cx="2197827" cy="16483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1" name="241.jpg" descr="241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23881" y="4815909"/>
            <a:ext cx="2197828" cy="16483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319.jpg" descr="319.jp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125642" y="4780613"/>
            <a:ext cx="2291951" cy="17189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Observations"/>
          <p:cNvSpPr txBox="1"/>
          <p:nvPr>
            <p:ph type="ctrTitle"/>
          </p:nvPr>
        </p:nvSpPr>
        <p:spPr>
          <a:xfrm>
            <a:off x="556464" y="177463"/>
            <a:ext cx="7772401" cy="1470026"/>
          </a:xfrm>
          <a:prstGeom prst="rect">
            <a:avLst/>
          </a:prstGeom>
        </p:spPr>
        <p:txBody>
          <a:bodyPr/>
          <a:lstStyle/>
          <a:p>
            <a:pPr/>
            <a:r>
              <a:t>Observations</a:t>
            </a:r>
          </a:p>
        </p:txBody>
      </p:sp>
      <p:sp>
        <p:nvSpPr>
          <p:cNvPr id="115" name="LLM-based OCR struggles on geometric or non-linear text layouts…"/>
          <p:cNvSpPr txBox="1"/>
          <p:nvPr>
            <p:ph type="subTitle" idx="1"/>
          </p:nvPr>
        </p:nvSpPr>
        <p:spPr>
          <a:xfrm>
            <a:off x="880126" y="1766466"/>
            <a:ext cx="7576235" cy="3708038"/>
          </a:xfrm>
          <a:prstGeom prst="rect">
            <a:avLst/>
          </a:prstGeom>
        </p:spPr>
        <p:txBody>
          <a:bodyPr/>
          <a:lstStyle/>
          <a:p>
            <a:pPr marL="342900" indent="-342900" algn="l">
              <a:buSzPct val="100000"/>
              <a:buFont typeface="Arial"/>
              <a:buChar char="•"/>
              <a:defRPr>
                <a:solidFill>
                  <a:srgbClr val="000000"/>
                </a:solidFill>
              </a:defRPr>
            </a:pPr>
            <a:r>
              <a:t>LLM-based OCR struggles on geometric or non-linear text layouts</a:t>
            </a:r>
          </a:p>
          <a:p>
            <a:pPr marL="342900" indent="-342900" algn="l">
              <a:buSzPct val="100000"/>
              <a:buFont typeface="Arial"/>
              <a:buChar char="•"/>
              <a:defRPr>
                <a:solidFill>
                  <a:srgbClr val="000000"/>
                </a:solidFill>
              </a:defRPr>
            </a:pPr>
            <a:r>
              <a:t> Cube and ellipse tasks break due to missing geometric priors</a:t>
            </a:r>
          </a:p>
          <a:p>
            <a:pPr marL="342900" indent="-342900" algn="l">
              <a:buSzPct val="100000"/>
              <a:buFont typeface="Arial"/>
              <a:buChar char="•"/>
              <a:defRPr>
                <a:solidFill>
                  <a:srgbClr val="000000"/>
                </a:solidFill>
              </a:defRPr>
            </a:pPr>
            <a:r>
              <a:t> Scene OCR works when layout follows human-reading patterns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Hypotheisis"/>
          <p:cNvSpPr txBox="1"/>
          <p:nvPr>
            <p:ph type="ctrTitle"/>
          </p:nvPr>
        </p:nvSpPr>
        <p:spPr>
          <a:xfrm>
            <a:off x="595265" y="319731"/>
            <a:ext cx="7772401" cy="1470026"/>
          </a:xfrm>
          <a:prstGeom prst="rect">
            <a:avLst/>
          </a:prstGeom>
        </p:spPr>
        <p:txBody>
          <a:bodyPr/>
          <a:lstStyle/>
          <a:p>
            <a:pPr/>
            <a:r>
              <a:t>Hypotheisis</a:t>
            </a:r>
          </a:p>
        </p:txBody>
      </p:sp>
      <p:sp>
        <p:nvSpPr>
          <p:cNvPr id="118" name="Content Placeholder 2"/>
          <p:cNvSpPr txBox="1"/>
          <p:nvPr/>
        </p:nvSpPr>
        <p:spPr>
          <a:xfrm>
            <a:off x="560668" y="1864428"/>
            <a:ext cx="8229601" cy="4525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342900" indent="-342900">
              <a:spcBef>
                <a:spcPts val="700"/>
              </a:spcBef>
              <a:buSzPct val="100000"/>
              <a:buFont typeface="Arial"/>
              <a:buChar char="•"/>
              <a:defRPr sz="3200"/>
            </a:pPr>
            <a:r>
              <a:t>Attention is global but unstructured → no stable reading path</a:t>
            </a:r>
          </a:p>
          <a:p>
            <a:pPr marL="342900" indent="-342900">
              <a:spcBef>
                <a:spcPts val="700"/>
              </a:spcBef>
              <a:buSzPct val="100000"/>
              <a:buFont typeface="Arial"/>
              <a:buChar char="•"/>
              <a:defRPr sz="3200"/>
            </a:pPr>
            <a:r>
              <a:t> No inductive bias for curves, 3D surfaces, or orbits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